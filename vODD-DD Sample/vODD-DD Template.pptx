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57" r:id="rId5"/>
    <p:sldId id="271" r:id="rId6"/>
    <p:sldId id="268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47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C9FCC7-4EF3-4BF8-BF41-E913280910E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25D226-B1BD-4898-90E7-E83859CF2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083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C5DDD-6E0F-51F2-4E78-337000495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7AB9A9-A52F-29B8-91E6-FB0B57541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43613E-2A37-FF7C-0B68-B9D001F64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Template (full version)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BFC45-F852-9F7C-6A38-90E38DE25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C50BC-ED40-4114-9AAE-74DC21BC2FD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533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CF188-5BDD-C8F6-4525-E1022E8299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CF55E7-3A2A-CC8A-4A7F-CFA2D1541F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4757C-84D3-4CB3-07B3-77FEBC172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2A193-F44E-4069-B1A3-EEDA44CFB6A6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B5F24-19E9-96C4-5ADA-D80471A7F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17FF2-F081-F1D2-000F-AFB9E9975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0813D-EAD6-40CD-B685-49EAB591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54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52837-A38C-116F-EB19-3F6FD8FA1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238E4-1FBF-1426-983B-E0A5E1FA9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0A630-11D1-8A0D-D0E9-2457C3BA9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2A193-F44E-4069-B1A3-EEDA44CFB6A6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7432E-3D73-97F9-B21A-3872DCAF3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E87AD-A4D8-4D01-024E-FF48D1F0D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0813D-EAD6-40CD-B685-49EAB591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759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CC9B1-AAA3-4C0D-93FE-9E24BAA1E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606A6-EF20-96DF-C894-3F46E6457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D5B4A-AF06-5658-34CE-D82929304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2A193-F44E-4069-B1A3-EEDA44CFB6A6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517E7-1DE9-0B04-FAF6-752FC2947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BD603-AE5A-C40A-68EC-90E0AE29A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0813D-EAD6-40CD-B685-49EAB591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726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E665D-EB76-BF53-8906-2DEFD5E64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05CC0-7D01-CEFF-96EB-AB3E43D4CE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CC10A6-6552-6F3C-F023-D9AB6E1B7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A2D669-3669-7A0A-0ADF-2FA9DE29D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2A193-F44E-4069-B1A3-EEDA44CFB6A6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BFFD7-51AF-4B5D-5414-CF4A4A0A6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0CFD6-242F-9D4C-E4DF-B6E5CCFD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0813D-EAD6-40CD-B685-49EAB591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533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5A7DB-CA13-2C72-B2CA-1599C440A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D46EB-2AD9-EF49-68C0-201A28A12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93BD2-66FC-7E1C-FC06-522D498552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3AC247-06F9-C09F-278C-BE4000C621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E0D445-F0F6-CCFD-9303-C9EC4DA524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994675-5001-E9D3-D30F-4F32776EB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2A193-F44E-4069-B1A3-EEDA44CFB6A6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F79878-D361-1683-75F0-8E9C8190E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838E5B-F6CD-A168-3DAB-3C9ED7621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0813D-EAD6-40CD-B685-49EAB591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263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14D73-F9B1-8A44-5117-2BE8B3A08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C9E2B1-7372-1F4A-FB1B-9E486B9B0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2A193-F44E-4069-B1A3-EEDA44CFB6A6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9BAC87-EEEE-CA23-CB74-6CDD2D423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36C19D-1F34-24E4-B3ED-4082A0F8E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0813D-EAD6-40CD-B685-49EAB591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717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3EDA0C-ACD8-EE45-5358-27C6F7B43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2A193-F44E-4069-B1A3-EEDA44CFB6A6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191F2-D0C4-EA2D-CE3A-F21C1EE2B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E6E91-8045-34AC-3688-50C1EF96F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0813D-EAD6-40CD-B685-49EAB591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250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5B2E8-127E-1CEC-A5CB-7F8D83541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01737-F414-A127-B853-BB2DF86B3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84EB40-45A9-96DA-C7AA-C2DA1A3BF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90FB3-4E23-A91B-DFDD-4F3E9DD9D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2A193-F44E-4069-B1A3-EEDA44CFB6A6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720A9-8F7B-AB44-8939-114447E68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84E2D0-923E-EB77-132A-9AD2F101D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0813D-EAD6-40CD-B685-49EAB591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72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80EDD-C9EA-6433-20C1-E9DC0063A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F69C24-558E-0FEC-E68F-C5C94C92EE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90878-A84F-58D2-8859-5F4EAABEF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6272CF-2F6E-E237-F082-827B9FF99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2A193-F44E-4069-B1A3-EEDA44CFB6A6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D608F-1C64-CE3E-5CB2-D740CCCC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CDC38-F8CF-B95D-A4CB-6D86D6E7C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0813D-EAD6-40CD-B685-49EAB591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595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2AC5F-4F75-932C-766D-92B471B7F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067CA3-1CFA-485B-1627-22B2CBC7D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B61C5-8567-01CA-3A5A-DE645D059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2A193-F44E-4069-B1A3-EEDA44CFB6A6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67A83-E840-FEF9-37FF-767355E74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F0B4-2F38-A455-B0BF-46A885382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0813D-EAD6-40CD-B685-49EAB591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908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196DC0-FB5B-2333-F830-A81B99FFF4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0BFD6B-E13E-5FAD-FEC9-E3744BF4E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1CF26-2E54-AEC1-A6D2-2C41AA137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2A193-F44E-4069-B1A3-EEDA44CFB6A6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9D46C-22EE-0646-3704-E9EC6DDD8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847A6-113C-CEC1-EE68-C6F14C079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0813D-EAD6-40CD-B685-49EAB591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907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ildplatzhalter 3">
            <a:extLst>
              <a:ext uri="{FF2B5EF4-FFF2-40B4-BE49-F238E27FC236}">
                <a16:creationId xmlns:a16="http://schemas.microsoft.com/office/drawing/2014/main" id="{E8F0924D-5395-FD43-B8E8-D373CC7CDB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11" b="18811"/>
          <a:stretch>
            <a:fillRect/>
          </a:stretch>
        </p:blipFill>
        <p:spPr>
          <a:xfrm>
            <a:off x="156308" y="3625451"/>
            <a:ext cx="11904459" cy="2707437"/>
          </a:xfrm>
          <a:prstGeom prst="round2DiagRect">
            <a:avLst>
              <a:gd name="adj1" fmla="val 0"/>
              <a:gd name="adj2" fmla="val 8317"/>
            </a:avLst>
          </a:prstGeom>
        </p:spPr>
      </p:pic>
      <p:sp>
        <p:nvSpPr>
          <p:cNvPr id="8" name="Textplatzhalt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487258" y="1927266"/>
            <a:ext cx="11366076" cy="38003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3400" b="1"/>
            </a:lvl1pPr>
            <a:lvl2pPr marL="473979" indent="0">
              <a:buFont typeface="Arial" panose="020B0604020202020204" pitchFamily="34" charset="0"/>
              <a:buNone/>
              <a:defRPr sz="3466" b="1"/>
            </a:lvl2pPr>
            <a:lvl3pPr marL="956422" indent="0">
              <a:buFont typeface="Arial" panose="020B0604020202020204" pitchFamily="34" charset="0"/>
              <a:buNone/>
              <a:defRPr sz="3466" b="1"/>
            </a:lvl3pPr>
            <a:lvl4pPr marL="1430402" indent="0">
              <a:buFont typeface="Arial" panose="020B0604020202020204" pitchFamily="34" charset="0"/>
              <a:buNone/>
              <a:defRPr sz="3466" b="1"/>
            </a:lvl4pPr>
            <a:lvl5pPr marL="1912845" indent="0">
              <a:buFont typeface="Arial" panose="020B0604020202020204" pitchFamily="34" charset="0"/>
              <a:buNone/>
              <a:defRPr sz="3466" b="1"/>
            </a:lvl5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title</a:t>
            </a:r>
          </a:p>
        </p:txBody>
      </p:sp>
      <p:sp>
        <p:nvSpPr>
          <p:cNvPr id="9" name="Textplatzhalter 25"/>
          <p:cNvSpPr>
            <a:spLocks noGrp="1"/>
          </p:cNvSpPr>
          <p:nvPr>
            <p:ph type="body" sz="quarter" idx="13" hasCustomPrompt="1"/>
          </p:nvPr>
        </p:nvSpPr>
        <p:spPr>
          <a:xfrm>
            <a:off x="507567" y="2639093"/>
            <a:ext cx="11354233" cy="67966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399" b="1" i="0" baseline="0"/>
            </a:lvl1pPr>
            <a:lvl2pPr marL="473979" indent="0">
              <a:buFont typeface="Arial" panose="020B0604020202020204" pitchFamily="34" charset="0"/>
              <a:buNone/>
              <a:defRPr sz="2399" b="1" i="0"/>
            </a:lvl2pPr>
            <a:lvl3pPr marL="956422" indent="0">
              <a:buFont typeface="Arial" panose="020B0604020202020204" pitchFamily="34" charset="0"/>
              <a:buNone/>
              <a:defRPr sz="2399" b="1" i="0"/>
            </a:lvl3pPr>
            <a:lvl4pPr marL="1430402" indent="0">
              <a:buFont typeface="Arial" panose="020B0604020202020204" pitchFamily="34" charset="0"/>
              <a:buNone/>
              <a:defRPr sz="2399" b="1" i="0"/>
            </a:lvl4pPr>
            <a:lvl5pPr marL="1912845" indent="0">
              <a:buFont typeface="Arial" panose="020B0604020202020204" pitchFamily="34" charset="0"/>
              <a:buNone/>
              <a:defRPr sz="2399" b="1" i="0"/>
            </a:lvl5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subline</a:t>
            </a:r>
            <a:br>
              <a:rPr lang="de-DE" dirty="0"/>
            </a:br>
            <a:r>
              <a:rPr lang="de-DE" dirty="0"/>
              <a:t>(</a:t>
            </a:r>
            <a:r>
              <a:rPr lang="en-US" dirty="0"/>
              <a:t>Also possible in two columns</a:t>
            </a:r>
            <a:r>
              <a:rPr lang="de-DE" dirty="0"/>
              <a:t>)</a:t>
            </a:r>
          </a:p>
        </p:txBody>
      </p:sp>
      <p:sp>
        <p:nvSpPr>
          <p:cNvPr id="10" name="Text Box 14">
            <a:extLst>
              <a:ext uri="{FF2B5EF4-FFF2-40B4-BE49-F238E27FC236}">
                <a16:creationId xmlns:a16="http://schemas.microsoft.com/office/drawing/2014/main" id="{537A5579-09BA-4663-B67D-33B15420579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5467" y="6525687"/>
            <a:ext cx="480889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r>
              <a:rPr lang="en-US" sz="1100" noProof="0" dirty="0"/>
              <a:t>KIT – The Research University in the Helmholtz Association</a:t>
            </a:r>
          </a:p>
        </p:txBody>
      </p:sp>
      <p:sp>
        <p:nvSpPr>
          <p:cNvPr id="11" name="Text Box 14">
            <a:extLst>
              <a:ext uri="{FF2B5EF4-FFF2-40B4-BE49-F238E27FC236}">
                <a16:creationId xmlns:a16="http://schemas.microsoft.com/office/drawing/2014/main" id="{6C188393-F356-4F5D-80C7-5DAA7302CAF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57834" y="6432821"/>
            <a:ext cx="2302933" cy="328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de-DE" altLang="de-DE" sz="2133" b="1" dirty="0">
                <a:solidFill>
                  <a:schemeClr val="tx1"/>
                </a:solidFill>
              </a:rPr>
              <a:t>www.kit.edu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170E65B-29E8-4B34-8C2D-4A01E1FD96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000" y="479852"/>
            <a:ext cx="2162067" cy="1001397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A22580B7-67C3-0373-D2AE-20694B5C40E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90791" y="205543"/>
            <a:ext cx="871009" cy="88520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8A883A1-DDC3-B675-22A5-7FBFD74F822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2325" y="1187628"/>
            <a:ext cx="871009" cy="5468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75201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2216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BC5369-D351-845C-4D04-E14A15E50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C57EA-8DA3-7570-DA85-F4242B528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374E9-3157-1D37-21C8-702814B5CF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B2A193-F44E-4069-B1A3-EEDA44CFB6A6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5A4B4-BB54-409E-961A-C6C4D94335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A83C4-CF6E-2E43-AC26-79CAD71E8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D0813D-EAD6-40CD-B685-49EAB591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42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mlee3/vODD-DD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B1A72CA-980A-2AE2-F356-565A28D802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SYDSEN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E4757D-4D48-3248-80D2-CFC0D5EB8E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7567" y="2448426"/>
            <a:ext cx="11354233" cy="1081157"/>
          </a:xfrm>
        </p:spPr>
        <p:txBody>
          <a:bodyPr>
            <a:normAutofit/>
          </a:bodyPr>
          <a:lstStyle/>
          <a:p>
            <a:r>
              <a:rPr lang="de-DE" sz="3200" dirty="0" err="1"/>
              <a:t>vODD</a:t>
            </a:r>
            <a:r>
              <a:rPr lang="de-DE" sz="3200" dirty="0"/>
              <a:t>-DD Protocol Template </a:t>
            </a:r>
          </a:p>
          <a:p>
            <a:r>
              <a:rPr lang="de-DE" sz="2200" i="1" dirty="0"/>
              <a:t>Visual </a:t>
            </a:r>
            <a:r>
              <a:rPr lang="de-DE" sz="2200" i="1" dirty="0" err="1"/>
              <a:t>Documentation</a:t>
            </a:r>
            <a:r>
              <a:rPr lang="de-DE" sz="2200" i="1" dirty="0"/>
              <a:t> </a:t>
            </a:r>
            <a:r>
              <a:rPr lang="de-DE" sz="2200" i="1" dirty="0" err="1"/>
              <a:t>for</a:t>
            </a:r>
            <a:r>
              <a:rPr lang="de-DE" sz="2200" i="1" dirty="0"/>
              <a:t> Data-Driven Agent-</a:t>
            </a:r>
            <a:r>
              <a:rPr lang="de-DE" sz="2200" i="1" dirty="0" err="1"/>
              <a:t>Based</a:t>
            </a:r>
            <a:r>
              <a:rPr lang="de-DE" sz="2200" i="1" dirty="0"/>
              <a:t> Models</a:t>
            </a:r>
            <a:endParaRPr lang="de-DE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D06B41-98F5-F46B-E7EB-BB2D2326C043}"/>
              </a:ext>
            </a:extLst>
          </p:cNvPr>
          <p:cNvSpPr txBox="1"/>
          <p:nvPr/>
        </p:nvSpPr>
        <p:spPr>
          <a:xfrm>
            <a:off x="624078" y="3753719"/>
            <a:ext cx="82547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Version number: v1.0 (2026)</a:t>
            </a:r>
          </a:p>
          <a:p>
            <a:r>
              <a:rPr lang="en-US" sz="2400" dirty="0">
                <a:solidFill>
                  <a:schemeClr val="bg1"/>
                </a:solidFill>
              </a:rPr>
              <a:t>Authors: Hui Min Lee &amp; Sanja Lazarova-Molnar</a:t>
            </a:r>
          </a:p>
          <a:p>
            <a:r>
              <a:rPr lang="en-US" sz="2400" dirty="0">
                <a:solidFill>
                  <a:schemeClr val="bg1"/>
                </a:solidFill>
              </a:rPr>
              <a:t>Repository: </a:t>
            </a:r>
            <a:r>
              <a:rPr lang="en-US" sz="24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https://github.com/hmlee3/vODD-DD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9120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1161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This Template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1612880" cy="685800"/>
          </a:xfrm>
          <a:prstGeom prst="rect">
            <a:avLst/>
          </a:prstGeom>
          <a:solidFill>
            <a:srgbClr val="E0F4F4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vODD-DD?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 visual documentation template for data-driven agent-based models (DDABMs), extending the ODD protocol with explicit data-driven components.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fill in this template: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993392"/>
            <a:ext cx="7680960" cy="475488"/>
          </a:xfrm>
          <a:prstGeom prst="rect">
            <a:avLst/>
          </a:prstGeom>
          <a:solidFill>
            <a:srgbClr val="E0F4F4"/>
          </a:solidFill>
          <a:ln w="9525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993392"/>
            <a:ext cx="329184" cy="475488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993392"/>
            <a:ext cx="329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6656" y="2029968"/>
            <a:ext cx="7205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&amp; PATTERNS  </a:t>
            </a: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model purpose and research question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505456"/>
            <a:ext cx="7680960" cy="475488"/>
          </a:xfrm>
          <a:prstGeom prst="rect">
            <a:avLst/>
          </a:prstGeom>
          <a:solidFill>
            <a:srgbClr val="EDE7F6"/>
          </a:solidFill>
          <a:ln w="9525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505456"/>
            <a:ext cx="329184" cy="47548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505456"/>
            <a:ext cx="329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6656" y="2542032"/>
            <a:ext cx="7205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INPUTS  </a:t>
            </a: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DataSource A/B/C with your datasets. Mark Static or Dynamic. Describe how each dataset is used.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7680960" cy="475488"/>
          </a:xfrm>
          <a:prstGeom prst="rect">
            <a:avLst/>
          </a:prstGeom>
          <a:solidFill>
            <a:srgbClr val="EDE7F6"/>
          </a:solidFill>
          <a:ln w="9525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329184" cy="47548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3017520"/>
            <a:ext cx="329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6656" y="3054096"/>
            <a:ext cx="7205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 </a:t>
            </a: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collection methods, preprocessing steps, and analysis methods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529584"/>
            <a:ext cx="7680960" cy="475488"/>
          </a:xfrm>
          <a:prstGeom prst="rect">
            <a:avLst/>
          </a:prstGeom>
          <a:solidFill>
            <a:srgbClr val="FFF3E0"/>
          </a:solidFill>
          <a:ln w="9525">
            <a:solidFill>
              <a:srgbClr val="E65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529584"/>
            <a:ext cx="329184" cy="475488"/>
          </a:xfrm>
          <a:prstGeom prst="rect">
            <a:avLst/>
          </a:prstGeom>
          <a:solidFill>
            <a:srgbClr val="E65C00"/>
          </a:solidFill>
          <a:ln w="12700">
            <a:solidFill>
              <a:srgbClr val="E65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3529584"/>
            <a:ext cx="329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" y="3566160"/>
            <a:ext cx="7205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ABM CORE  </a:t>
            </a: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model name, agent types, state variables, submodel behaviors, interaction rules, environment, and temporal settings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041648"/>
            <a:ext cx="7680960" cy="475488"/>
          </a:xfrm>
          <a:prstGeom prst="rect">
            <a:avLst/>
          </a:prstGeom>
          <a:solidFill>
            <a:srgbClr val="E8F5E9"/>
          </a:solidFill>
          <a:ln w="95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4041648"/>
            <a:ext cx="329184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041648"/>
            <a:ext cx="329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6656" y="4078224"/>
            <a:ext cx="7205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 </a:t>
            </a: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output patterns and what emerges from agent interactions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553712"/>
            <a:ext cx="7680960" cy="475488"/>
          </a:xfrm>
          <a:prstGeom prst="rect">
            <a:avLst/>
          </a:prstGeom>
          <a:solidFill>
            <a:srgbClr val="FCE4EC"/>
          </a:solidFill>
          <a:ln w="9525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4553712"/>
            <a:ext cx="329184" cy="475488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4553712"/>
            <a:ext cx="329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6656" y="4590288"/>
            <a:ext cx="7205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 </a:t>
            </a: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calibration method, target parameters, data used, and validation approaches with results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5065776"/>
            <a:ext cx="7680960" cy="475488"/>
          </a:xfrm>
          <a:prstGeom prst="rect">
            <a:avLst/>
          </a:prstGeom>
          <a:solidFill>
            <a:srgbClr val="EFEBE9"/>
          </a:solidFill>
          <a:ln w="9525">
            <a:solidFill>
              <a:srgbClr val="5D40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74320" y="5065776"/>
            <a:ext cx="329184" cy="475488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4320" y="5065776"/>
            <a:ext cx="329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6656" y="5102352"/>
            <a:ext cx="7205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 </a:t>
            </a: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simulation experiments; highlight the key scenario in the dark bordered box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229600" y="1600200"/>
            <a:ext cx="37033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229600" y="1600200"/>
            <a:ext cx="370332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229600" y="160020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66760" y="2084832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fields empty is acceptable — it transparently signals which components remain unspecified.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component definitions and a completed example, refer to the accompanying paper.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9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library for automated diagram generation </a:t>
            </a: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</a:t>
            </a:r>
            <a:r>
              <a:rPr lang="en-US" sz="9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under development </a:t>
            </a: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check the repository for updates.</a:t>
            </a:r>
            <a:endParaRPr lang="en-US" sz="950" dirty="0"/>
          </a:p>
          <a:p>
            <a:pPr marL="342900" indent="-342900">
              <a:buSzPct val="100000"/>
              <a:buFontTx/>
              <a:buChar char="•"/>
            </a:pPr>
            <a:endParaRPr lang="en-US" sz="950" dirty="0"/>
          </a:p>
          <a:p>
            <a:pPr>
              <a:buSzPct val="100000"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366760" y="2953512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366760" y="3822192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366760" y="4690872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214360" y="3840480"/>
            <a:ext cx="3703320" cy="27432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214360" y="38404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structure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287512" y="4160520"/>
            <a:ext cx="3557016" cy="22860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287512" y="4160520"/>
            <a:ext cx="35570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&amp; Patterns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8287512" y="4434840"/>
            <a:ext cx="1005840" cy="37490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287512" y="443484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9339072" y="4434840"/>
            <a:ext cx="1417320" cy="877824"/>
          </a:xfrm>
          <a:prstGeom prst="rect">
            <a:avLst/>
          </a:prstGeom>
          <a:solidFill>
            <a:srgbClr val="E65C00"/>
          </a:solidFill>
          <a:ln w="12700">
            <a:solidFill>
              <a:srgbClr val="E65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339072" y="44348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ABM Core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0802112" y="4434840"/>
            <a:ext cx="1042416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0802112" y="4434840"/>
            <a:ext cx="1042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8284464" y="5345938"/>
            <a:ext cx="3557016" cy="201168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317992" y="5345938"/>
            <a:ext cx="3557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750" dirty="0"/>
          </a:p>
        </p:txBody>
      </p:sp>
      <p:sp>
        <p:nvSpPr>
          <p:cNvPr id="56" name="Shape 48">
            <a:extLst>
              <a:ext uri="{FF2B5EF4-FFF2-40B4-BE49-F238E27FC236}">
                <a16:creationId xmlns:a16="http://schemas.microsoft.com/office/drawing/2014/main" id="{4BCB004D-68F5-CBD5-15EB-E7EADA887967}"/>
              </a:ext>
            </a:extLst>
          </p:cNvPr>
          <p:cNvSpPr/>
          <p:nvPr/>
        </p:nvSpPr>
        <p:spPr>
          <a:xfrm>
            <a:off x="10802112" y="4896612"/>
            <a:ext cx="1042416" cy="416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pPr algn="ctr"/>
            <a:endParaRPr lang="en-US" sz="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800" dirty="0"/>
          </a:p>
        </p:txBody>
      </p:sp>
      <p:sp>
        <p:nvSpPr>
          <p:cNvPr id="57" name="Shape 44">
            <a:extLst>
              <a:ext uri="{FF2B5EF4-FFF2-40B4-BE49-F238E27FC236}">
                <a16:creationId xmlns:a16="http://schemas.microsoft.com/office/drawing/2014/main" id="{631665D8-E41C-C353-E260-5073EAEC9CDC}"/>
              </a:ext>
            </a:extLst>
          </p:cNvPr>
          <p:cNvSpPr/>
          <p:nvPr/>
        </p:nvSpPr>
        <p:spPr>
          <a:xfrm>
            <a:off x="8284464" y="4855464"/>
            <a:ext cx="1005840" cy="45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Text 45">
            <a:extLst>
              <a:ext uri="{FF2B5EF4-FFF2-40B4-BE49-F238E27FC236}">
                <a16:creationId xmlns:a16="http://schemas.microsoft.com/office/drawing/2014/main" id="{02BE6E60-881A-523F-4A87-9DD5BEC254F6}"/>
              </a:ext>
            </a:extLst>
          </p:cNvPr>
          <p:cNvSpPr/>
          <p:nvPr/>
        </p:nvSpPr>
        <p:spPr>
          <a:xfrm>
            <a:off x="8317992" y="491490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3D698-47D5-6B19-1115-7A27DE707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9">
            <a:extLst>
              <a:ext uri="{FF2B5EF4-FFF2-40B4-BE49-F238E27FC236}">
                <a16:creationId xmlns:a16="http://schemas.microsoft.com/office/drawing/2014/main" id="{53412D05-85B7-513D-BB88-62C6D568B424}"/>
              </a:ext>
            </a:extLst>
          </p:cNvPr>
          <p:cNvSpPr/>
          <p:nvPr/>
        </p:nvSpPr>
        <p:spPr>
          <a:xfrm>
            <a:off x="504675" y="5266944"/>
            <a:ext cx="8321718" cy="1164335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2AFA11-3215-2DFA-060C-6D9F84AB899D}"/>
              </a:ext>
            </a:extLst>
          </p:cNvPr>
          <p:cNvSpPr/>
          <p:nvPr/>
        </p:nvSpPr>
        <p:spPr>
          <a:xfrm>
            <a:off x="513919" y="533045"/>
            <a:ext cx="11073577" cy="417931"/>
          </a:xfrm>
          <a:prstGeom prst="rect">
            <a:avLst/>
          </a:prstGeom>
          <a:solidFill>
            <a:srgbClr val="0891B2"/>
          </a:solidFill>
          <a:ln w="254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56F5CB-31F9-0860-26B7-590FD616F2A9}"/>
              </a:ext>
            </a:extLst>
          </p:cNvPr>
          <p:cNvSpPr txBox="1"/>
          <p:nvPr/>
        </p:nvSpPr>
        <p:spPr>
          <a:xfrm>
            <a:off x="601074" y="572509"/>
            <a:ext cx="1927131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rPr sz="1333" dirty="0"/>
              <a:t>PURPOSE</a:t>
            </a:r>
            <a:r>
              <a:rPr lang="en-US" sz="1333" dirty="0"/>
              <a:t> &amp; PATTERNS</a:t>
            </a:r>
            <a:endParaRPr sz="1333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C697D4-AFA1-A652-23DF-353A64C30E7A}"/>
              </a:ext>
            </a:extLst>
          </p:cNvPr>
          <p:cNvSpPr txBox="1"/>
          <p:nvPr/>
        </p:nvSpPr>
        <p:spPr>
          <a:xfrm>
            <a:off x="2620561" y="565302"/>
            <a:ext cx="3677610" cy="2873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F0F9FF"/>
                </a:solidFill>
              </a:defRPr>
            </a:pPr>
            <a:r>
              <a:rPr lang="en-US" sz="1267" dirty="0"/>
              <a:t>[Describe your model purpose, research question]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1CE197-C617-FAE2-EAFE-5FD0B2989124}"/>
              </a:ext>
            </a:extLst>
          </p:cNvPr>
          <p:cNvSpPr/>
          <p:nvPr/>
        </p:nvSpPr>
        <p:spPr>
          <a:xfrm>
            <a:off x="511898" y="1036060"/>
            <a:ext cx="2697489" cy="36990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D3EA90-2A02-3458-2F96-25BF95BBA7EA}"/>
              </a:ext>
            </a:extLst>
          </p:cNvPr>
          <p:cNvSpPr txBox="1"/>
          <p:nvPr/>
        </p:nvSpPr>
        <p:spPr>
          <a:xfrm>
            <a:off x="1177215" y="1064329"/>
            <a:ext cx="1342034" cy="31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467" dirty="0"/>
              <a:t> DATA INPUTS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A5CC1F-D0E8-AA1F-F9FE-23406F54D064}"/>
              </a:ext>
            </a:extLst>
          </p:cNvPr>
          <p:cNvSpPr/>
          <p:nvPr/>
        </p:nvSpPr>
        <p:spPr>
          <a:xfrm>
            <a:off x="504676" y="3786576"/>
            <a:ext cx="2684676" cy="1394763"/>
          </a:xfrm>
          <a:prstGeom prst="rect">
            <a:avLst/>
          </a:prstGeom>
          <a:solidFill>
            <a:srgbClr val="FEF3C7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AE1E52-A8B2-D87C-F9C4-F776926FB8B5}"/>
              </a:ext>
            </a:extLst>
          </p:cNvPr>
          <p:cNvSpPr txBox="1"/>
          <p:nvPr/>
        </p:nvSpPr>
        <p:spPr>
          <a:xfrm>
            <a:off x="475439" y="3826094"/>
            <a:ext cx="145745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2400E"/>
                </a:solidFill>
              </a:defRPr>
            </a:pPr>
            <a:r>
              <a:rPr sz="1200" dirty="0"/>
              <a:t>⚙️ DATA PIPELINE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15CEC8-ACBE-2776-D982-5B3252448AA1}"/>
              </a:ext>
            </a:extLst>
          </p:cNvPr>
          <p:cNvSpPr txBox="1"/>
          <p:nvPr/>
        </p:nvSpPr>
        <p:spPr>
          <a:xfrm>
            <a:off x="542975" y="4049938"/>
            <a:ext cx="2348720" cy="969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78350F"/>
                </a:solidFill>
              </a:defRPr>
            </a:pPr>
            <a:r>
              <a:rPr sz="1000" dirty="0"/>
              <a:t>1. Collection</a:t>
            </a:r>
          </a:p>
          <a:p>
            <a:pPr>
              <a:defRPr sz="650" i="1">
                <a:solidFill>
                  <a:srgbClr val="92400E"/>
                </a:solidFill>
              </a:defRPr>
            </a:pPr>
            <a:r>
              <a:rPr sz="900" dirty="0"/>
              <a:t>   [Collection methods, APIs, tools]</a:t>
            </a:r>
            <a:endParaRPr sz="2800" dirty="0"/>
          </a:p>
          <a:p>
            <a:pPr>
              <a:defRPr sz="750" b="1">
                <a:solidFill>
                  <a:srgbClr val="78350F"/>
                </a:solidFill>
              </a:defRPr>
            </a:pPr>
            <a:r>
              <a:rPr sz="1000" dirty="0"/>
              <a:t>2. Pre-processing</a:t>
            </a:r>
          </a:p>
          <a:p>
            <a:pPr>
              <a:defRPr sz="650" i="1">
                <a:solidFill>
                  <a:srgbClr val="92400E"/>
                </a:solidFill>
              </a:defRPr>
            </a:pPr>
            <a:r>
              <a:rPr sz="900" dirty="0"/>
              <a:t>   [Cleaning, imputation, QC methods]</a:t>
            </a:r>
            <a:endParaRPr sz="2800" dirty="0"/>
          </a:p>
          <a:p>
            <a:pPr>
              <a:defRPr sz="750" b="1">
                <a:solidFill>
                  <a:srgbClr val="78350F"/>
                </a:solidFill>
              </a:defRPr>
            </a:pPr>
            <a:r>
              <a:rPr sz="1000" dirty="0"/>
              <a:t>3. Analysis</a:t>
            </a:r>
          </a:p>
          <a:p>
            <a:pPr>
              <a:defRPr sz="650" i="1">
                <a:solidFill>
                  <a:srgbClr val="92400E"/>
                </a:solidFill>
              </a:defRPr>
            </a:pPr>
            <a:r>
              <a:rPr sz="900" dirty="0"/>
              <a:t>   [Analysis methods, extraction, estimation]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DAD015-DE24-D8BE-45C9-18AA6D0119B3}"/>
              </a:ext>
            </a:extLst>
          </p:cNvPr>
          <p:cNvSpPr/>
          <p:nvPr/>
        </p:nvSpPr>
        <p:spPr>
          <a:xfrm>
            <a:off x="3339993" y="1036059"/>
            <a:ext cx="5486400" cy="4145280"/>
          </a:xfrm>
          <a:prstGeom prst="rect">
            <a:avLst/>
          </a:prstGeom>
          <a:solidFill>
            <a:srgbClr val="E0F2FE"/>
          </a:solidFill>
          <a:ln w="381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A0934-D117-0AF0-2C07-F7E3D53262DD}"/>
              </a:ext>
            </a:extLst>
          </p:cNvPr>
          <p:cNvSpPr txBox="1"/>
          <p:nvPr/>
        </p:nvSpPr>
        <p:spPr>
          <a:xfrm>
            <a:off x="4562298" y="1059464"/>
            <a:ext cx="306917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E7490"/>
                </a:solidFill>
              </a:defRPr>
            </a:pPr>
            <a:r>
              <a:rPr sz="1600" dirty="0"/>
              <a:t>ABM CORE: [Your Model Name]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A3606-CE86-2322-0CA5-3CC3C1B204EC}"/>
              </a:ext>
            </a:extLst>
          </p:cNvPr>
          <p:cNvSpPr/>
          <p:nvPr/>
        </p:nvSpPr>
        <p:spPr>
          <a:xfrm>
            <a:off x="3516093" y="1492177"/>
            <a:ext cx="2499359" cy="3006062"/>
          </a:xfrm>
          <a:prstGeom prst="rect">
            <a:avLst/>
          </a:prstGeom>
          <a:solidFill>
            <a:srgbClr val="FFFFFF"/>
          </a:solidFill>
          <a:ln w="254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5AFCAB-C7F6-CD7F-D16D-DFD959424BF1}"/>
              </a:ext>
            </a:extLst>
          </p:cNvPr>
          <p:cNvSpPr txBox="1"/>
          <p:nvPr/>
        </p:nvSpPr>
        <p:spPr>
          <a:xfrm>
            <a:off x="3569702" y="1555750"/>
            <a:ext cx="16754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D9488"/>
                </a:solidFill>
              </a:defRPr>
            </a:pPr>
            <a:r>
              <a:rPr sz="1200" dirty="0"/>
              <a:t>👥 AGENTS (n=[N=X])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2ABA3D-2D57-246C-C7C2-C1F4882B4A29}"/>
              </a:ext>
            </a:extLst>
          </p:cNvPr>
          <p:cNvSpPr txBox="1"/>
          <p:nvPr/>
        </p:nvSpPr>
        <p:spPr>
          <a:xfrm>
            <a:off x="3563203" y="1790832"/>
            <a:ext cx="2299027" cy="10259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74151"/>
                </a:solidFill>
              </a:defRPr>
            </a:pPr>
            <a:r>
              <a:rPr sz="1067" dirty="0"/>
              <a:t>Types: [Agent Type 1], [Agent Type 2]</a:t>
            </a:r>
          </a:p>
          <a:p>
            <a:pPr>
              <a:defRPr sz="750" b="1">
                <a:solidFill>
                  <a:srgbClr val="374151"/>
                </a:solidFill>
              </a:defRPr>
            </a:pPr>
            <a:r>
              <a:rPr sz="1000" dirty="0"/>
              <a:t>State variables:</a:t>
            </a:r>
          </a:p>
          <a:p>
            <a:pPr lvl="1">
              <a:defRPr sz="750">
                <a:solidFill>
                  <a:srgbClr val="374151"/>
                </a:solidFill>
              </a:defRPr>
            </a:pPr>
            <a:r>
              <a:rPr sz="1000" dirty="0"/>
              <a:t>• [state_variable_1]</a:t>
            </a:r>
          </a:p>
          <a:p>
            <a:pPr lvl="1">
              <a:defRPr sz="750">
                <a:solidFill>
                  <a:srgbClr val="374151"/>
                </a:solidFill>
              </a:defRPr>
            </a:pPr>
            <a:r>
              <a:rPr sz="1000" dirty="0"/>
              <a:t>• [state_variable_2]</a:t>
            </a:r>
          </a:p>
          <a:p>
            <a:pPr lvl="1">
              <a:defRPr sz="750">
                <a:solidFill>
                  <a:srgbClr val="374151"/>
                </a:solidFill>
              </a:defRPr>
            </a:pPr>
            <a:r>
              <a:rPr sz="1000" dirty="0"/>
              <a:t>• [state_variable_3]</a:t>
            </a:r>
          </a:p>
          <a:p>
            <a:pPr lvl="1">
              <a:defRPr sz="750">
                <a:solidFill>
                  <a:srgbClr val="374151"/>
                </a:solidFill>
              </a:defRPr>
            </a:pPr>
            <a:r>
              <a:rPr sz="1000" dirty="0"/>
              <a:t>• [state_variable_4]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2AE27A-CED3-DFFA-29FC-680266BC947D}"/>
              </a:ext>
            </a:extLst>
          </p:cNvPr>
          <p:cNvSpPr txBox="1"/>
          <p:nvPr/>
        </p:nvSpPr>
        <p:spPr>
          <a:xfrm>
            <a:off x="3569701" y="2738653"/>
            <a:ext cx="1438214" cy="2358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7C3AED"/>
                </a:solidFill>
              </a:defRPr>
            </a:pPr>
            <a:r>
              <a:rPr sz="933" dirty="0"/>
              <a:t>📌 [Data source name]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B36B5EB-2D6E-F50C-FE63-ADA10B413C77}"/>
              </a:ext>
            </a:extLst>
          </p:cNvPr>
          <p:cNvSpPr/>
          <p:nvPr/>
        </p:nvSpPr>
        <p:spPr>
          <a:xfrm>
            <a:off x="3657611" y="2966189"/>
            <a:ext cx="2204619" cy="1449730"/>
          </a:xfrm>
          <a:prstGeom prst="rect">
            <a:avLst/>
          </a:prstGeom>
          <a:solidFill>
            <a:srgbClr val="F0FDFA"/>
          </a:solidFill>
          <a:ln w="19050">
            <a:solidFill>
              <a:srgbClr val="14B8A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178D0B-8B8A-4693-46B5-B0C962A010E9}"/>
              </a:ext>
            </a:extLst>
          </p:cNvPr>
          <p:cNvSpPr txBox="1"/>
          <p:nvPr/>
        </p:nvSpPr>
        <p:spPr>
          <a:xfrm>
            <a:off x="3679923" y="2961453"/>
            <a:ext cx="104868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 i="1">
                <a:solidFill>
                  <a:srgbClr val="0F766E"/>
                </a:solidFill>
              </a:defRPr>
            </a:pPr>
            <a:r>
              <a:rPr sz="1000"/>
              <a:t>🧩 Submodels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701EE4-FB9C-97B9-E82A-40EEA9C8CF44}"/>
              </a:ext>
            </a:extLst>
          </p:cNvPr>
          <p:cNvSpPr txBox="1"/>
          <p:nvPr/>
        </p:nvSpPr>
        <p:spPr>
          <a:xfrm>
            <a:off x="4563851" y="2971881"/>
            <a:ext cx="1013419" cy="2257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 i="1">
                <a:solidFill>
                  <a:srgbClr val="0F766E"/>
                </a:solidFill>
              </a:defRPr>
            </a:pPr>
            <a:r>
              <a:rPr sz="867"/>
              <a:t>(Agent behaviors)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EA65B2-F9F1-CD0F-24EA-CF0DB0E959C6}"/>
              </a:ext>
            </a:extLst>
          </p:cNvPr>
          <p:cNvSpPr txBox="1"/>
          <p:nvPr/>
        </p:nvSpPr>
        <p:spPr>
          <a:xfrm>
            <a:off x="3591137" y="3165826"/>
            <a:ext cx="1540806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374151"/>
                </a:solidFill>
              </a:defRPr>
            </a:pPr>
            <a:r>
              <a:rPr sz="1000"/>
              <a:t>🚶 [Submodel 1 Name]</a:t>
            </a:r>
          </a:p>
          <a:p>
            <a:pPr>
              <a:defRPr sz="600" i="1">
                <a:solidFill>
                  <a:srgbClr val="6B7280"/>
                </a:solidFill>
              </a:defRPr>
            </a:pPr>
            <a:r>
              <a:rPr sz="800"/>
              <a:t>   [Brief description of behavior]</a:t>
            </a:r>
          </a:p>
          <a:p>
            <a:pPr>
              <a:defRPr sz="750">
                <a:solidFill>
                  <a:srgbClr val="374151"/>
                </a:solidFill>
              </a:defRPr>
            </a:pPr>
            <a:r>
              <a:rPr sz="1000"/>
              <a:t>🍃 [Submodel 2 Name]</a:t>
            </a:r>
          </a:p>
          <a:p>
            <a:pPr>
              <a:defRPr sz="600" i="1">
                <a:solidFill>
                  <a:srgbClr val="6B7280"/>
                </a:solidFill>
              </a:defRPr>
            </a:pPr>
            <a:r>
              <a:rPr sz="800"/>
              <a:t>   [Brief description of behavior]</a:t>
            </a:r>
          </a:p>
          <a:p>
            <a:pPr>
              <a:defRPr sz="750">
                <a:solidFill>
                  <a:srgbClr val="374151"/>
                </a:solidFill>
              </a:defRPr>
            </a:pPr>
            <a:r>
              <a:rPr sz="1000"/>
              <a:t>⚡ [Submodel 3 Name]</a:t>
            </a:r>
          </a:p>
          <a:p>
            <a:pPr>
              <a:defRPr sz="600" i="1">
                <a:solidFill>
                  <a:srgbClr val="6B7280"/>
                </a:solidFill>
              </a:defRPr>
            </a:pPr>
            <a:r>
              <a:rPr sz="800"/>
              <a:t>   [Brief description of behavior]</a:t>
            </a:r>
          </a:p>
          <a:p>
            <a:pPr>
              <a:defRPr sz="750">
                <a:solidFill>
                  <a:srgbClr val="374151"/>
                </a:solidFill>
              </a:defRPr>
            </a:pPr>
            <a:r>
              <a:rPr sz="1000"/>
              <a:t>🔄 [Submodel 4 Name]</a:t>
            </a:r>
          </a:p>
          <a:p>
            <a:pPr>
              <a:defRPr sz="600" i="1">
                <a:solidFill>
                  <a:srgbClr val="6B7280"/>
                </a:solidFill>
              </a:defRPr>
            </a:pPr>
            <a:r>
              <a:rPr sz="800"/>
              <a:t>   [Brief description of behavior]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C361F1-0EC5-B483-567A-477DD61F5440}"/>
              </a:ext>
            </a:extLst>
          </p:cNvPr>
          <p:cNvSpPr/>
          <p:nvPr/>
        </p:nvSpPr>
        <p:spPr>
          <a:xfrm>
            <a:off x="6123864" y="1510101"/>
            <a:ext cx="2560320" cy="2466872"/>
          </a:xfrm>
          <a:prstGeom prst="rect">
            <a:avLst/>
          </a:prstGeom>
          <a:solidFill>
            <a:srgbClr val="FFF8F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E892F3-C543-BABD-9CF7-850900CE5117}"/>
              </a:ext>
            </a:extLst>
          </p:cNvPr>
          <p:cNvSpPr txBox="1"/>
          <p:nvPr/>
        </p:nvSpPr>
        <p:spPr>
          <a:xfrm>
            <a:off x="6121280" y="1555750"/>
            <a:ext cx="14847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97706"/>
                </a:solidFill>
              </a:defRPr>
            </a:pPr>
            <a:r>
              <a:rPr sz="1200" dirty="0"/>
              <a:t>⚡ INTERACTIONS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DB65856-10B2-3B71-5EC1-4489047C9E8F}"/>
              </a:ext>
            </a:extLst>
          </p:cNvPr>
          <p:cNvSpPr/>
          <p:nvPr/>
        </p:nvSpPr>
        <p:spPr>
          <a:xfrm>
            <a:off x="6131314" y="4054630"/>
            <a:ext cx="2560320" cy="1036088"/>
          </a:xfrm>
          <a:prstGeom prst="rect">
            <a:avLst/>
          </a:prstGeom>
          <a:solidFill>
            <a:srgbClr val="FFFFFF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E0E382-D344-4472-2373-F684F8BF58F9}"/>
              </a:ext>
            </a:extLst>
          </p:cNvPr>
          <p:cNvSpPr txBox="1"/>
          <p:nvPr/>
        </p:nvSpPr>
        <p:spPr>
          <a:xfrm>
            <a:off x="6213602" y="4140455"/>
            <a:ext cx="148470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2410C"/>
                </a:solidFill>
              </a:defRPr>
            </a:pPr>
            <a:r>
              <a:rPr sz="1200" dirty="0"/>
              <a:t>🗺️ ENVIRONMENT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E32364-8B59-64A1-5036-338EA6D982C2}"/>
              </a:ext>
            </a:extLst>
          </p:cNvPr>
          <p:cNvSpPr txBox="1"/>
          <p:nvPr/>
        </p:nvSpPr>
        <p:spPr>
          <a:xfrm>
            <a:off x="6258795" y="4389981"/>
            <a:ext cx="197361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374151"/>
                </a:solidFill>
              </a:defRPr>
            </a:pPr>
            <a:r>
              <a:rPr sz="1000" dirty="0"/>
              <a:t>Grid: [X×Y]</a:t>
            </a:r>
          </a:p>
          <a:p>
            <a:pPr>
              <a:defRPr sz="750">
                <a:solidFill>
                  <a:srgbClr val="374151"/>
                </a:solidFill>
              </a:defRPr>
            </a:pPr>
            <a:r>
              <a:rPr sz="1000" dirty="0"/>
              <a:t>Resolution: [</a:t>
            </a:r>
            <a:r>
              <a:rPr sz="1000" dirty="0" err="1"/>
              <a:t>size×size</a:t>
            </a:r>
            <a:r>
              <a:rPr sz="1000" dirty="0"/>
              <a:t>]</a:t>
            </a:r>
          </a:p>
          <a:p>
            <a:pPr>
              <a:defRPr sz="750">
                <a:solidFill>
                  <a:srgbClr val="374151"/>
                </a:solidFill>
              </a:defRPr>
            </a:pPr>
            <a:r>
              <a:rPr sz="1000" dirty="0"/>
              <a:t>Layers: [layer1], [layer2], [layer3]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1AC63C4-EAAD-2323-DB91-ABF2638B2D71}"/>
              </a:ext>
            </a:extLst>
          </p:cNvPr>
          <p:cNvSpPr/>
          <p:nvPr/>
        </p:nvSpPr>
        <p:spPr>
          <a:xfrm>
            <a:off x="3531364" y="4557873"/>
            <a:ext cx="2499359" cy="548640"/>
          </a:xfrm>
          <a:prstGeom prst="rect">
            <a:avLst/>
          </a:prstGeom>
          <a:solidFill>
            <a:srgbClr val="FEF3C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8925471-71F0-D0CD-0FC8-8C9A2D502D54}"/>
              </a:ext>
            </a:extLst>
          </p:cNvPr>
          <p:cNvSpPr/>
          <p:nvPr/>
        </p:nvSpPr>
        <p:spPr>
          <a:xfrm>
            <a:off x="8901437" y="1036059"/>
            <a:ext cx="2697517" cy="3790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5356703-6F2B-198D-92A2-A70538C9555C}"/>
              </a:ext>
            </a:extLst>
          </p:cNvPr>
          <p:cNvSpPr txBox="1"/>
          <p:nvPr/>
        </p:nvSpPr>
        <p:spPr>
          <a:xfrm>
            <a:off x="9398467" y="1065944"/>
            <a:ext cx="1529586" cy="31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467" dirty="0"/>
              <a:t>OBSERVATIONS</a:t>
            </a:r>
            <a:endParaRPr sz="1467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55DB513-B633-C923-19F7-49A18E7152AA}"/>
              </a:ext>
            </a:extLst>
          </p:cNvPr>
          <p:cNvSpPr/>
          <p:nvPr/>
        </p:nvSpPr>
        <p:spPr>
          <a:xfrm>
            <a:off x="8916715" y="3885402"/>
            <a:ext cx="2671455" cy="379462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7C387EB-702B-907A-8F06-025042AFBAD8}"/>
              </a:ext>
            </a:extLst>
          </p:cNvPr>
          <p:cNvSpPr txBox="1"/>
          <p:nvPr/>
        </p:nvSpPr>
        <p:spPr>
          <a:xfrm>
            <a:off x="9353532" y="3926406"/>
            <a:ext cx="1778051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333" dirty="0"/>
              <a:t>MODEL EVALUATION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FDCAD2F-2675-2D24-B867-35BD20561EE1}"/>
              </a:ext>
            </a:extLst>
          </p:cNvPr>
          <p:cNvSpPr/>
          <p:nvPr/>
        </p:nvSpPr>
        <p:spPr>
          <a:xfrm>
            <a:off x="8916714" y="4373255"/>
            <a:ext cx="2682240" cy="975360"/>
          </a:xfrm>
          <a:prstGeom prst="rect">
            <a:avLst/>
          </a:prstGeom>
          <a:solidFill>
            <a:srgbClr val="FFF1F2"/>
          </a:solidFill>
          <a:ln w="19050">
            <a:solidFill>
              <a:srgbClr val="FDA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66EF9B5-F0E4-FD62-39CB-A19FC9B389F8}"/>
              </a:ext>
            </a:extLst>
          </p:cNvPr>
          <p:cNvSpPr txBox="1"/>
          <p:nvPr/>
        </p:nvSpPr>
        <p:spPr>
          <a:xfrm>
            <a:off x="8945656" y="4453868"/>
            <a:ext cx="2651688" cy="8822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9F1239"/>
                </a:solidFill>
              </a:defRPr>
            </a:pPr>
            <a:r>
              <a:rPr sz="1133" dirty="0"/>
              <a:t>🎯 Calibration</a:t>
            </a:r>
          </a:p>
          <a:p>
            <a:pPr>
              <a:defRPr sz="750">
                <a:solidFill>
                  <a:srgbClr val="BE123C"/>
                </a:solidFill>
              </a:defRPr>
            </a:pPr>
            <a:r>
              <a:rPr sz="1000" dirty="0"/>
              <a:t>Method: [Method name]</a:t>
            </a:r>
          </a:p>
          <a:p>
            <a:pPr>
              <a:defRPr sz="750">
                <a:solidFill>
                  <a:srgbClr val="BE123C"/>
                </a:solidFill>
              </a:defRPr>
            </a:pPr>
            <a:r>
              <a:rPr sz="1000" dirty="0"/>
              <a:t>Target params: [param1], [param2], [param3]</a:t>
            </a:r>
          </a:p>
          <a:p>
            <a:pPr>
              <a:defRPr sz="750">
                <a:solidFill>
                  <a:srgbClr val="BE123C"/>
                </a:solidFill>
              </a:defRPr>
            </a:pPr>
            <a:r>
              <a:rPr sz="1000" dirty="0"/>
              <a:t>Data: [Training data source]</a:t>
            </a:r>
          </a:p>
          <a:p>
            <a:pPr>
              <a:defRPr sz="750" b="1">
                <a:solidFill>
                  <a:srgbClr val="BE123C"/>
                </a:solidFill>
              </a:defRPr>
            </a:pPr>
            <a:r>
              <a:rPr sz="1000" dirty="0"/>
              <a:t>Result: [Calibration results]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3171560-9A6B-6EF8-6D46-A25BD17EAD69}"/>
              </a:ext>
            </a:extLst>
          </p:cNvPr>
          <p:cNvSpPr/>
          <p:nvPr/>
        </p:nvSpPr>
        <p:spPr>
          <a:xfrm>
            <a:off x="8915104" y="5414321"/>
            <a:ext cx="2682240" cy="1016958"/>
          </a:xfrm>
          <a:prstGeom prst="rect">
            <a:avLst/>
          </a:prstGeom>
          <a:solidFill>
            <a:srgbClr val="DCFCE7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F8BE3C7-3B86-F90B-DFCB-DC3684D437EB}"/>
              </a:ext>
            </a:extLst>
          </p:cNvPr>
          <p:cNvSpPr txBox="1"/>
          <p:nvPr/>
        </p:nvSpPr>
        <p:spPr>
          <a:xfrm>
            <a:off x="8923929" y="5457006"/>
            <a:ext cx="1729961" cy="8822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4532D"/>
                </a:solidFill>
              </a:defRPr>
            </a:pPr>
            <a:r>
              <a:rPr sz="1133" dirty="0"/>
              <a:t>✅ Validation</a:t>
            </a:r>
          </a:p>
          <a:p>
            <a:pPr>
              <a:defRPr sz="750">
                <a:solidFill>
                  <a:srgbClr val="15803D"/>
                </a:solidFill>
              </a:defRPr>
            </a:pPr>
            <a:r>
              <a:rPr sz="1000" dirty="0"/>
              <a:t>• [Validation approach 1]</a:t>
            </a:r>
          </a:p>
          <a:p>
            <a:pPr>
              <a:defRPr sz="750">
                <a:solidFill>
                  <a:srgbClr val="15803D"/>
                </a:solidFill>
              </a:defRPr>
            </a:pPr>
            <a:r>
              <a:rPr sz="1000" dirty="0"/>
              <a:t>• [Validation approach 2]</a:t>
            </a:r>
          </a:p>
          <a:p>
            <a:pPr>
              <a:defRPr sz="750">
                <a:solidFill>
                  <a:srgbClr val="15803D"/>
                </a:solidFill>
              </a:defRPr>
            </a:pPr>
            <a:r>
              <a:rPr sz="1000" dirty="0"/>
              <a:t>• [Validation approach 3]</a:t>
            </a:r>
          </a:p>
          <a:p>
            <a:pPr>
              <a:defRPr sz="750" b="1">
                <a:solidFill>
                  <a:srgbClr val="15803D"/>
                </a:solidFill>
              </a:defRPr>
            </a:pPr>
            <a:r>
              <a:rPr sz="1000" dirty="0"/>
              <a:t>Result: [Validation results]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E366F17-904B-AB94-7DA6-DB77A9503170}"/>
              </a:ext>
            </a:extLst>
          </p:cNvPr>
          <p:cNvSpPr txBox="1"/>
          <p:nvPr/>
        </p:nvSpPr>
        <p:spPr>
          <a:xfrm>
            <a:off x="488954" y="5337674"/>
            <a:ext cx="2545890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rPr sz="1333" dirty="0"/>
              <a:t>🔀 SCENARIOS</a:t>
            </a:r>
            <a:r>
              <a:rPr lang="en-US" sz="1333" dirty="0"/>
              <a:t> (If applicable)</a:t>
            </a:r>
            <a:r>
              <a:rPr sz="1333" dirty="0"/>
              <a:t>: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296A939-5999-DABA-D66B-85AC7C7E5333}"/>
              </a:ext>
            </a:extLst>
          </p:cNvPr>
          <p:cNvSpPr/>
          <p:nvPr/>
        </p:nvSpPr>
        <p:spPr>
          <a:xfrm>
            <a:off x="562365" y="5656134"/>
            <a:ext cx="1950720" cy="692976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CCCD6D6-DD32-7BF6-1CF9-AF3FBF7F8B2F}"/>
              </a:ext>
            </a:extLst>
          </p:cNvPr>
          <p:cNvSpPr txBox="1"/>
          <p:nvPr/>
        </p:nvSpPr>
        <p:spPr>
          <a:xfrm>
            <a:off x="750766" y="5741479"/>
            <a:ext cx="147187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74151"/>
                </a:solidFill>
              </a:defRPr>
            </a:pPr>
            <a:r>
              <a:rPr sz="1200"/>
              <a:t>[Baseline Scenario]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1500A9C-E607-12A3-12CE-3DC2B4407C45}"/>
              </a:ext>
            </a:extLst>
          </p:cNvPr>
          <p:cNvSpPr txBox="1"/>
          <p:nvPr/>
        </p:nvSpPr>
        <p:spPr>
          <a:xfrm>
            <a:off x="572305" y="5960935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>
                <a:solidFill>
                  <a:srgbClr val="6B7280"/>
                </a:solidFill>
              </a:defRPr>
            </a:pPr>
            <a:r>
              <a:rPr sz="1000"/>
              <a:t>[Baseline conditions]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F1BF1F7-3819-6BB3-396F-5F730C6A9A9A}"/>
              </a:ext>
            </a:extLst>
          </p:cNvPr>
          <p:cNvSpPr/>
          <p:nvPr/>
        </p:nvSpPr>
        <p:spPr>
          <a:xfrm>
            <a:off x="2610621" y="5656134"/>
            <a:ext cx="1950720" cy="692976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AE7EDAB-954E-A8E6-26B2-4B22C84850D0}"/>
              </a:ext>
            </a:extLst>
          </p:cNvPr>
          <p:cNvSpPr txBox="1"/>
          <p:nvPr/>
        </p:nvSpPr>
        <p:spPr>
          <a:xfrm>
            <a:off x="3045083" y="5741479"/>
            <a:ext cx="97975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74151"/>
                </a:solidFill>
              </a:defRPr>
            </a:pPr>
            <a:r>
              <a:rPr sz="1200"/>
              <a:t>[Scenario 2]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2A3C9A4-D70E-F758-EA9D-3E5D5929DD61}"/>
              </a:ext>
            </a:extLst>
          </p:cNvPr>
          <p:cNvSpPr txBox="1"/>
          <p:nvPr/>
        </p:nvSpPr>
        <p:spPr>
          <a:xfrm>
            <a:off x="2620561" y="5960935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>
                <a:solidFill>
                  <a:srgbClr val="6B7280"/>
                </a:solidFill>
              </a:defRPr>
            </a:pPr>
            <a:r>
              <a:rPr sz="1000"/>
              <a:t>[What's changed]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62C7B3D-6862-8E0B-2C4E-9CAF94A3190E}"/>
              </a:ext>
            </a:extLst>
          </p:cNvPr>
          <p:cNvSpPr/>
          <p:nvPr/>
        </p:nvSpPr>
        <p:spPr>
          <a:xfrm>
            <a:off x="4607857" y="5656134"/>
            <a:ext cx="1950720" cy="692976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D043BF8-3DB0-D2DA-165B-5614FA7F3ABC}"/>
              </a:ext>
            </a:extLst>
          </p:cNvPr>
          <p:cNvSpPr txBox="1"/>
          <p:nvPr/>
        </p:nvSpPr>
        <p:spPr>
          <a:xfrm>
            <a:off x="5093339" y="5741479"/>
            <a:ext cx="97975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74151"/>
                </a:solidFill>
              </a:defRPr>
            </a:pPr>
            <a:r>
              <a:rPr sz="1200"/>
              <a:t>[Scenario 3]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B31DD95-5156-89FE-B621-3618447FFD5B}"/>
              </a:ext>
            </a:extLst>
          </p:cNvPr>
          <p:cNvSpPr txBox="1"/>
          <p:nvPr/>
        </p:nvSpPr>
        <p:spPr>
          <a:xfrm>
            <a:off x="4668817" y="5960935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>
                <a:solidFill>
                  <a:srgbClr val="6B7280"/>
                </a:solidFill>
              </a:defRPr>
            </a:pPr>
            <a:r>
              <a:rPr sz="1000"/>
              <a:t>[What's changed]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27BEAB5-BFE3-2F16-0C7D-7DC5ABCD3F42}"/>
              </a:ext>
            </a:extLst>
          </p:cNvPr>
          <p:cNvSpPr/>
          <p:nvPr/>
        </p:nvSpPr>
        <p:spPr>
          <a:xfrm>
            <a:off x="6656113" y="5656134"/>
            <a:ext cx="1950720" cy="692976"/>
          </a:xfrm>
          <a:prstGeom prst="rect">
            <a:avLst/>
          </a:prstGeom>
          <a:solidFill>
            <a:srgbClr val="F5F0FF"/>
          </a:solidFill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4FFCB9-1927-5672-C718-EC5F5A8ADE80}"/>
              </a:ext>
            </a:extLst>
          </p:cNvPr>
          <p:cNvSpPr txBox="1"/>
          <p:nvPr/>
        </p:nvSpPr>
        <p:spPr>
          <a:xfrm>
            <a:off x="6756073" y="5741479"/>
            <a:ext cx="175079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5B21B6"/>
                </a:solidFill>
              </a:defRPr>
            </a:pPr>
            <a:r>
              <a:rPr sz="1200" dirty="0"/>
              <a:t>[Highlighted Scenario]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D6CEAD7-D629-2212-ED27-EBBB54E06964}"/>
              </a:ext>
            </a:extLst>
          </p:cNvPr>
          <p:cNvSpPr txBox="1"/>
          <p:nvPr/>
        </p:nvSpPr>
        <p:spPr>
          <a:xfrm>
            <a:off x="6717073" y="5960934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>
                <a:solidFill>
                  <a:srgbClr val="7C3AED"/>
                </a:solidFill>
              </a:defRPr>
            </a:pPr>
            <a:r>
              <a:rPr sz="1000"/>
              <a:t>[Key scenario of interest]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F0EE16-B92D-80FD-EC68-B0C059CA304C}"/>
              </a:ext>
            </a:extLst>
          </p:cNvPr>
          <p:cNvSpPr/>
          <p:nvPr/>
        </p:nvSpPr>
        <p:spPr>
          <a:xfrm>
            <a:off x="507139" y="1509250"/>
            <a:ext cx="2697489" cy="686615"/>
          </a:xfrm>
          <a:prstGeom prst="rect">
            <a:avLst/>
          </a:prstGeom>
          <a:solidFill>
            <a:srgbClr val="FFFFFF"/>
          </a:solidFill>
          <a:ln w="1905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F9459C-F647-D3B1-A8FD-BF3E16341A5C}"/>
              </a:ext>
            </a:extLst>
          </p:cNvPr>
          <p:cNvSpPr txBox="1"/>
          <p:nvPr/>
        </p:nvSpPr>
        <p:spPr>
          <a:xfrm>
            <a:off x="513919" y="1502036"/>
            <a:ext cx="193033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B21B6"/>
                </a:solidFill>
              </a:defRPr>
            </a:pPr>
            <a:r>
              <a:rPr lang="de-DE" sz="1200" dirty="0"/>
              <a:t>📋 [</a:t>
            </a:r>
            <a:r>
              <a:rPr lang="de-DE" sz="1200" dirty="0" err="1"/>
              <a:t>DataSource</a:t>
            </a:r>
            <a:r>
              <a:rPr lang="de-DE" sz="1200" dirty="0"/>
              <a:t> A Name]</a:t>
            </a:r>
          </a:p>
          <a:p>
            <a:pPr>
              <a:defRPr sz="900" b="1">
                <a:solidFill>
                  <a:srgbClr val="5B21B6"/>
                </a:solidFill>
              </a:defRPr>
            </a:pPr>
            <a:endParaRPr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0D0B0D-9A4A-5311-939D-E516DAAC4A09}"/>
              </a:ext>
            </a:extLst>
          </p:cNvPr>
          <p:cNvSpPr/>
          <p:nvPr/>
        </p:nvSpPr>
        <p:spPr>
          <a:xfrm>
            <a:off x="507139" y="2245507"/>
            <a:ext cx="2697489" cy="686615"/>
          </a:xfrm>
          <a:prstGeom prst="rect">
            <a:avLst/>
          </a:prstGeom>
          <a:solidFill>
            <a:srgbClr val="FFFFFF"/>
          </a:solidFill>
          <a:ln w="1905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D90E7B-90D9-45D4-DCD0-2DAD245E428F}"/>
              </a:ext>
            </a:extLst>
          </p:cNvPr>
          <p:cNvSpPr txBox="1"/>
          <p:nvPr/>
        </p:nvSpPr>
        <p:spPr>
          <a:xfrm>
            <a:off x="504676" y="2241394"/>
            <a:ext cx="192873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B21B6"/>
                </a:solidFill>
              </a:defRPr>
            </a:pPr>
            <a:r>
              <a:rPr sz="1200" dirty="0"/>
              <a:t>📡</a:t>
            </a:r>
            <a:r>
              <a:rPr lang="de-DE" sz="1200" dirty="0"/>
              <a:t> [</a:t>
            </a:r>
            <a:r>
              <a:rPr lang="de-DE" sz="1200" dirty="0" err="1"/>
              <a:t>DataSource</a:t>
            </a:r>
            <a:r>
              <a:rPr lang="de-DE" sz="1200" dirty="0"/>
              <a:t> B Name]</a:t>
            </a:r>
            <a:endParaRPr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4C47A4-6173-4E18-7938-0D55013222B7}"/>
              </a:ext>
            </a:extLst>
          </p:cNvPr>
          <p:cNvSpPr/>
          <p:nvPr/>
        </p:nvSpPr>
        <p:spPr>
          <a:xfrm>
            <a:off x="504676" y="2980352"/>
            <a:ext cx="2683900" cy="686615"/>
          </a:xfrm>
          <a:prstGeom prst="rect">
            <a:avLst/>
          </a:prstGeom>
          <a:solidFill>
            <a:srgbClr val="FFFFFF"/>
          </a:solidFill>
          <a:ln w="1905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1BBA95-1B3B-4F0B-AFC1-58DD3518F047}"/>
              </a:ext>
            </a:extLst>
          </p:cNvPr>
          <p:cNvSpPr txBox="1"/>
          <p:nvPr/>
        </p:nvSpPr>
        <p:spPr>
          <a:xfrm>
            <a:off x="629749" y="3015282"/>
            <a:ext cx="1675312" cy="283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B21B6"/>
                </a:solidFill>
              </a:defRPr>
            </a:pPr>
            <a:r>
              <a:rPr sz="1200" dirty="0"/>
              <a:t>🔬 [Dataset C Name]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AF9CE0-E7FA-1C2E-E965-7472771E00F8}"/>
              </a:ext>
            </a:extLst>
          </p:cNvPr>
          <p:cNvSpPr txBox="1"/>
          <p:nvPr/>
        </p:nvSpPr>
        <p:spPr>
          <a:xfrm>
            <a:off x="513921" y="3405707"/>
            <a:ext cx="1520548" cy="2415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7C3AED"/>
                </a:solidFill>
              </a:defRPr>
            </a:pPr>
            <a:r>
              <a:rPr sz="933" dirty="0"/>
              <a:t>→ [How this data is used]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50F4C62-B271-1BAC-6634-5B487AD43ADA}"/>
              </a:ext>
            </a:extLst>
          </p:cNvPr>
          <p:cNvSpPr txBox="1"/>
          <p:nvPr/>
        </p:nvSpPr>
        <p:spPr>
          <a:xfrm>
            <a:off x="553167" y="2683499"/>
            <a:ext cx="1520548" cy="2415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7C3AED"/>
                </a:solidFill>
              </a:defRPr>
            </a:pPr>
            <a:r>
              <a:rPr sz="933" dirty="0"/>
              <a:t>→ [How this data is used]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C50DB77-932D-22B3-B273-C44745CDF621}"/>
              </a:ext>
            </a:extLst>
          </p:cNvPr>
          <p:cNvSpPr txBox="1"/>
          <p:nvPr/>
        </p:nvSpPr>
        <p:spPr>
          <a:xfrm>
            <a:off x="513921" y="1918975"/>
            <a:ext cx="1520548" cy="2415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7C3AED"/>
                </a:solidFill>
              </a:defRPr>
            </a:pPr>
            <a:r>
              <a:rPr sz="933" dirty="0"/>
              <a:t>→ [How this data is used]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84B3960-20B2-06DF-C5C2-555AF971A709}"/>
              </a:ext>
            </a:extLst>
          </p:cNvPr>
          <p:cNvSpPr txBox="1"/>
          <p:nvPr/>
        </p:nvSpPr>
        <p:spPr>
          <a:xfrm>
            <a:off x="553167" y="1732635"/>
            <a:ext cx="1839197" cy="236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6B7280"/>
                </a:solidFill>
              </a:defRPr>
            </a:pPr>
            <a:r>
              <a:rPr sz="900" dirty="0"/>
              <a:t>[Brief description</a:t>
            </a:r>
            <a:r>
              <a:rPr lang="en-US" sz="900" dirty="0"/>
              <a:t>, e.g. survey</a:t>
            </a:r>
            <a:r>
              <a:rPr sz="900" dirty="0"/>
              <a:t>]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1B9670F-FBF4-0011-6C12-62F0D866B34B}"/>
              </a:ext>
            </a:extLst>
          </p:cNvPr>
          <p:cNvSpPr txBox="1"/>
          <p:nvPr/>
        </p:nvSpPr>
        <p:spPr>
          <a:xfrm>
            <a:off x="553167" y="2490303"/>
            <a:ext cx="1839197" cy="236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6B7280"/>
                </a:solidFill>
              </a:defRPr>
            </a:pPr>
            <a:r>
              <a:rPr sz="900" dirty="0"/>
              <a:t>[Brief description]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4FB5674-D61A-6515-DEB4-64295F8424E3}"/>
              </a:ext>
            </a:extLst>
          </p:cNvPr>
          <p:cNvSpPr txBox="1"/>
          <p:nvPr/>
        </p:nvSpPr>
        <p:spPr>
          <a:xfrm>
            <a:off x="544335" y="3230705"/>
            <a:ext cx="1839197" cy="236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6B7280"/>
                </a:solidFill>
              </a:defRPr>
            </a:pPr>
            <a:r>
              <a:rPr sz="900" dirty="0"/>
              <a:t>[Brief description]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42BF5B7-4867-8BEE-1491-6DDD53407010}"/>
              </a:ext>
            </a:extLst>
          </p:cNvPr>
          <p:cNvGrpSpPr/>
          <p:nvPr/>
        </p:nvGrpSpPr>
        <p:grpSpPr>
          <a:xfrm>
            <a:off x="8897618" y="1498449"/>
            <a:ext cx="2689878" cy="2259916"/>
            <a:chOff x="8976431" y="1589424"/>
            <a:chExt cx="2689878" cy="199309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85E6F1E-CA0B-3ACF-FFF8-E5EED8F7219F}"/>
                </a:ext>
              </a:extLst>
            </p:cNvPr>
            <p:cNvSpPr/>
            <p:nvPr/>
          </p:nvSpPr>
          <p:spPr>
            <a:xfrm>
              <a:off x="8976431" y="1589424"/>
              <a:ext cx="2682240" cy="971387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FDB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4D6503F-CAE2-B46B-7222-97FECA2CDBF2}"/>
                </a:ext>
              </a:extLst>
            </p:cNvPr>
            <p:cNvSpPr txBox="1"/>
            <p:nvPr/>
          </p:nvSpPr>
          <p:spPr>
            <a:xfrm>
              <a:off x="9002936" y="1651273"/>
              <a:ext cx="1675459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900" b="1">
                  <a:solidFill>
                    <a:srgbClr val="1E40AF"/>
                  </a:solidFill>
                </a:defRPr>
              </a:pPr>
              <a:r>
                <a:rPr sz="1200" dirty="0"/>
                <a:t>📈 [Output Pattern 1]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2618639-C61A-6AEC-AC61-66C135051DCB}"/>
                </a:ext>
              </a:extLst>
            </p:cNvPr>
            <p:cNvSpPr txBox="1"/>
            <p:nvPr/>
          </p:nvSpPr>
          <p:spPr>
            <a:xfrm>
              <a:off x="9144000" y="1890359"/>
              <a:ext cx="2025945" cy="4078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750">
                  <a:solidFill>
                    <a:srgbClr val="6B7280"/>
                  </a:solidFill>
                </a:defRPr>
              </a:pPr>
              <a:r>
                <a:rPr sz="1000" dirty="0"/>
                <a:t>[What is measured]</a:t>
              </a:r>
            </a:p>
            <a:p>
              <a:r>
                <a:rPr sz="1000" dirty="0"/>
                <a:t>[Type of pattern]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4473AC4-CFE8-14BC-6190-B39DE702B1C6}"/>
                </a:ext>
              </a:extLst>
            </p:cNvPr>
            <p:cNvSpPr txBox="1"/>
            <p:nvPr/>
          </p:nvSpPr>
          <p:spPr>
            <a:xfrm>
              <a:off x="9144001" y="2206753"/>
              <a:ext cx="1393330" cy="2462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650" i="1">
                  <a:solidFill>
                    <a:srgbClr val="64748B"/>
                  </a:solidFill>
                </a:defRPr>
              </a:pPr>
              <a:r>
                <a:rPr lang="en-US" sz="1000" dirty="0"/>
                <a:t>What’s the </a:t>
              </a:r>
              <a:r>
                <a:rPr sz="1000" dirty="0"/>
                <a:t>Emergent</a:t>
              </a:r>
              <a:r>
                <a:rPr lang="en-US" sz="1000" dirty="0"/>
                <a:t>?</a:t>
              </a:r>
              <a:endParaRPr sz="1000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E03E7D2-9BF4-3559-B768-1DC4C4A55B77}"/>
                </a:ext>
              </a:extLst>
            </p:cNvPr>
            <p:cNvSpPr/>
            <p:nvPr/>
          </p:nvSpPr>
          <p:spPr>
            <a:xfrm>
              <a:off x="8984069" y="2668256"/>
              <a:ext cx="2682240" cy="91425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FDB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C0F5EEF-8445-CD67-7C69-2BFF84BE74DF}"/>
                </a:ext>
              </a:extLst>
            </p:cNvPr>
            <p:cNvSpPr txBox="1"/>
            <p:nvPr/>
          </p:nvSpPr>
          <p:spPr>
            <a:xfrm>
              <a:off x="8999349" y="2746725"/>
              <a:ext cx="1675459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900" b="1">
                  <a:solidFill>
                    <a:srgbClr val="1E40AF"/>
                  </a:solidFill>
                </a:defRPr>
              </a:pPr>
              <a:r>
                <a:rPr sz="1200" dirty="0"/>
                <a:t>🗺️ [Output Pattern 2]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6205CBF-9B3E-E084-63AB-E2A226BA054E}"/>
                </a:ext>
              </a:extLst>
            </p:cNvPr>
            <p:cNvSpPr txBox="1"/>
            <p:nvPr/>
          </p:nvSpPr>
          <p:spPr>
            <a:xfrm>
              <a:off x="9113629" y="2916132"/>
              <a:ext cx="2438400" cy="3528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750">
                  <a:solidFill>
                    <a:srgbClr val="6B7280"/>
                  </a:solidFill>
                </a:defRPr>
              </a:pPr>
              <a:r>
                <a:rPr sz="1000" dirty="0"/>
                <a:t>[What is measured]</a:t>
              </a:r>
            </a:p>
            <a:p>
              <a:r>
                <a:rPr sz="1000" dirty="0"/>
                <a:t>[</a:t>
              </a:r>
              <a:r>
                <a:rPr lang="en-US" sz="1000" dirty="0"/>
                <a:t>Some visualization of trend if applicable</a:t>
              </a:r>
              <a:r>
                <a:rPr sz="1000" dirty="0"/>
                <a:t>]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8F20683-ADB0-975A-3287-DC3099B4A5D0}"/>
                </a:ext>
              </a:extLst>
            </p:cNvPr>
            <p:cNvSpPr txBox="1"/>
            <p:nvPr/>
          </p:nvSpPr>
          <p:spPr>
            <a:xfrm>
              <a:off x="9113627" y="3256601"/>
              <a:ext cx="1393330" cy="2462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650" i="1">
                  <a:solidFill>
                    <a:srgbClr val="64748B"/>
                  </a:solidFill>
                </a:defRPr>
              </a:pPr>
              <a:r>
                <a:rPr lang="en-US" sz="1000" dirty="0"/>
                <a:t>What’s the </a:t>
              </a:r>
              <a:r>
                <a:rPr sz="1000" dirty="0"/>
                <a:t>Emergent</a:t>
              </a:r>
              <a:r>
                <a:rPr lang="en-US" sz="1000" dirty="0"/>
                <a:t>?</a:t>
              </a:r>
              <a:endParaRPr sz="1000" dirty="0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6E504625-7723-2C3C-97BD-10E8B0BD0E6E}"/>
              </a:ext>
            </a:extLst>
          </p:cNvPr>
          <p:cNvSpPr txBox="1"/>
          <p:nvPr/>
        </p:nvSpPr>
        <p:spPr>
          <a:xfrm>
            <a:off x="6131313" y="1801572"/>
            <a:ext cx="261167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374151"/>
                </a:solidFill>
              </a:defRPr>
            </a:pPr>
            <a:r>
              <a:rPr sz="1000" dirty="0">
                <a:latin typeface="+mj-lt"/>
              </a:rPr>
              <a:t>• Agent ↔ Agent</a:t>
            </a:r>
            <a:endParaRPr lang="en-US" sz="1000" dirty="0">
              <a:latin typeface="+mj-lt"/>
            </a:endParaRPr>
          </a:p>
          <a:p>
            <a:pPr>
              <a:defRPr sz="750" b="1">
                <a:solidFill>
                  <a:srgbClr val="374151"/>
                </a:solidFill>
              </a:defRPr>
            </a:pP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[</a:t>
            </a:r>
            <a:r>
              <a:rPr kumimoji="0" lang="de-DE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Describe</a:t>
            </a: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de-DE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agent</a:t>
            </a: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-agent </a:t>
            </a:r>
            <a:r>
              <a:rPr kumimoji="0" lang="de-DE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interactions</a:t>
            </a: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</a:t>
            </a:r>
            <a:b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[e.g., Competition, </a:t>
            </a:r>
            <a:r>
              <a:rPr kumimoji="0" lang="de-DE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cooperation</a:t>
            </a: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de-DE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transmission</a:t>
            </a: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</a:t>
            </a:r>
          </a:p>
          <a:p>
            <a:pPr>
              <a:defRPr sz="750" b="1">
                <a:solidFill>
                  <a:srgbClr val="374151"/>
                </a:solidFill>
              </a:defRPr>
            </a:pPr>
            <a:endParaRPr lang="en-US" sz="1000" dirty="0">
              <a:latin typeface="+mj-lt"/>
            </a:endParaRPr>
          </a:p>
          <a:p>
            <a:pPr>
              <a:defRPr sz="750" b="1">
                <a:solidFill>
                  <a:srgbClr val="374151"/>
                </a:solidFill>
              </a:defRPr>
            </a:pPr>
            <a:r>
              <a:rPr sz="1000" dirty="0">
                <a:latin typeface="+mj-lt"/>
              </a:rPr>
              <a:t>• Agent ↔ Environment</a:t>
            </a:r>
            <a:endParaRPr lang="en-US" sz="1000" dirty="0">
              <a:latin typeface="+mj-lt"/>
            </a:endParaRPr>
          </a:p>
          <a:p>
            <a:pPr>
              <a:defRPr sz="750" b="1">
                <a:solidFill>
                  <a:srgbClr val="374151"/>
                </a:solidFill>
              </a:defRPr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[</a:t>
            </a: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Describe</a:t>
            </a: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agent-</a:t>
            </a: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environment</a:t>
            </a: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interactions]</a:t>
            </a:r>
            <a:b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[e.g., Resource </a:t>
            </a: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consumption</a:t>
            </a: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movement</a:t>
            </a: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</a:t>
            </a:r>
          </a:p>
          <a:p>
            <a:pPr>
              <a:defRPr sz="750" b="1">
                <a:solidFill>
                  <a:srgbClr val="374151"/>
                </a:solidFill>
              </a:defRPr>
            </a:pPr>
            <a:endParaRPr sz="1000" dirty="0">
              <a:latin typeface="+mj-lt"/>
            </a:endParaRPr>
          </a:p>
          <a:p>
            <a:pPr>
              <a:defRPr sz="750" b="1">
                <a:solidFill>
                  <a:srgbClr val="374151"/>
                </a:solidFill>
              </a:defRPr>
            </a:pPr>
            <a:r>
              <a:rPr sz="1000" dirty="0">
                <a:latin typeface="+mj-lt"/>
              </a:rPr>
              <a:t>• Topology/Network</a:t>
            </a:r>
            <a:endParaRPr lang="en-US" sz="1000" dirty="0">
              <a:latin typeface="+mj-lt"/>
            </a:endParaRPr>
          </a:p>
          <a:p>
            <a:pPr>
              <a:defRPr sz="750" b="1">
                <a:solidFill>
                  <a:srgbClr val="374151"/>
                </a:solidFill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[Describe interaction topology]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[e.g., Spatial neighbors, social network]</a:t>
            </a:r>
            <a:endParaRPr lang="en-US" sz="1000" dirty="0">
              <a:latin typeface="+mj-lt"/>
            </a:endParaRPr>
          </a:p>
          <a:p>
            <a:pPr>
              <a:defRPr sz="750" b="1">
                <a:solidFill>
                  <a:srgbClr val="374151"/>
                </a:solidFill>
              </a:defRPr>
            </a:pPr>
            <a:endParaRPr lang="en-US" sz="1000" dirty="0">
              <a:latin typeface="+mj-lt"/>
            </a:endParaRPr>
          </a:p>
          <a:p>
            <a:pPr>
              <a:defRPr sz="750" b="1">
                <a:solidFill>
                  <a:srgbClr val="374151"/>
                </a:solidFill>
              </a:defRPr>
            </a:pPr>
            <a:endParaRPr lang="en-US" sz="1000" dirty="0">
              <a:latin typeface="+mj-lt"/>
            </a:endParaRPr>
          </a:p>
          <a:p>
            <a:pPr>
              <a:defRPr sz="750" b="1">
                <a:solidFill>
                  <a:srgbClr val="374151"/>
                </a:solidFill>
              </a:defRPr>
            </a:pPr>
            <a:endParaRPr lang="en-US" sz="1000" dirty="0">
              <a:latin typeface="+mj-lt"/>
            </a:endParaRPr>
          </a:p>
          <a:p>
            <a:pPr>
              <a:defRPr sz="750" b="1">
                <a:solidFill>
                  <a:srgbClr val="374151"/>
                </a:solidFill>
              </a:defRPr>
            </a:pPr>
            <a:endParaRPr lang="en-US" sz="1000" dirty="0">
              <a:latin typeface="+mj-lt"/>
            </a:endParaRPr>
          </a:p>
        </p:txBody>
      </p:sp>
      <p:sp>
        <p:nvSpPr>
          <p:cNvPr id="95" name="Shape 10">
            <a:extLst>
              <a:ext uri="{FF2B5EF4-FFF2-40B4-BE49-F238E27FC236}">
                <a16:creationId xmlns:a16="http://schemas.microsoft.com/office/drawing/2014/main" id="{A4CB47AF-A4CB-A0CE-762B-1CA1A65CBEF6}"/>
              </a:ext>
            </a:extLst>
          </p:cNvPr>
          <p:cNvSpPr/>
          <p:nvPr/>
        </p:nvSpPr>
        <p:spPr>
          <a:xfrm>
            <a:off x="2570735" y="2383993"/>
            <a:ext cx="544690" cy="383291"/>
          </a:xfrm>
          <a:prstGeom prst="rect">
            <a:avLst/>
          </a:prstGeom>
          <a:solidFill>
            <a:srgbClr val="D1FAE5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sz="9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7A52E68-A21C-4593-0278-F6B9F0CDFA5F}"/>
              </a:ext>
            </a:extLst>
          </p:cNvPr>
          <p:cNvSpPr txBox="1"/>
          <p:nvPr/>
        </p:nvSpPr>
        <p:spPr>
          <a:xfrm>
            <a:off x="2500893" y="2402395"/>
            <a:ext cx="723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STATIC/</a:t>
            </a:r>
          </a:p>
          <a:p>
            <a:pPr algn="ctr"/>
            <a:r>
              <a:rPr lang="en-US" sz="800" dirty="0"/>
              <a:t>DYNAMIC</a:t>
            </a:r>
          </a:p>
        </p:txBody>
      </p:sp>
      <p:sp>
        <p:nvSpPr>
          <p:cNvPr id="97" name="Shape 10">
            <a:extLst>
              <a:ext uri="{FF2B5EF4-FFF2-40B4-BE49-F238E27FC236}">
                <a16:creationId xmlns:a16="http://schemas.microsoft.com/office/drawing/2014/main" id="{E89895D5-11C0-C75C-92E1-8238EAC7EC02}"/>
              </a:ext>
            </a:extLst>
          </p:cNvPr>
          <p:cNvSpPr/>
          <p:nvPr/>
        </p:nvSpPr>
        <p:spPr>
          <a:xfrm>
            <a:off x="2564305" y="3150957"/>
            <a:ext cx="544690" cy="383291"/>
          </a:xfrm>
          <a:prstGeom prst="rect">
            <a:avLst/>
          </a:prstGeom>
          <a:solidFill>
            <a:srgbClr val="D1FAE5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sz="9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71DBD11-155E-680B-FBA0-621DA32B11BD}"/>
              </a:ext>
            </a:extLst>
          </p:cNvPr>
          <p:cNvSpPr txBox="1"/>
          <p:nvPr/>
        </p:nvSpPr>
        <p:spPr>
          <a:xfrm>
            <a:off x="2494463" y="3169359"/>
            <a:ext cx="723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STATIC/</a:t>
            </a:r>
          </a:p>
          <a:p>
            <a:pPr algn="ctr"/>
            <a:r>
              <a:rPr lang="en-US" sz="800" dirty="0"/>
              <a:t>DYNAMIC</a:t>
            </a: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BFC386BC-FBE0-270D-8CD9-87EC4F4648D9}"/>
              </a:ext>
            </a:extLst>
          </p:cNvPr>
          <p:cNvSpPr/>
          <p:nvPr/>
        </p:nvSpPr>
        <p:spPr>
          <a:xfrm>
            <a:off x="2577878" y="1716500"/>
            <a:ext cx="544690" cy="383291"/>
          </a:xfrm>
          <a:prstGeom prst="rect">
            <a:avLst/>
          </a:prstGeom>
          <a:solidFill>
            <a:srgbClr val="D1FAE5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0123FA-A25D-01B1-AFBC-00E4B2254CB1}"/>
              </a:ext>
            </a:extLst>
          </p:cNvPr>
          <p:cNvSpPr txBox="1"/>
          <p:nvPr/>
        </p:nvSpPr>
        <p:spPr>
          <a:xfrm>
            <a:off x="2508036" y="1734902"/>
            <a:ext cx="723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STATIC/</a:t>
            </a:r>
          </a:p>
          <a:p>
            <a:pPr algn="ctr"/>
            <a:r>
              <a:rPr lang="en-US" sz="800" dirty="0"/>
              <a:t>DYNAMIC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935924-8D1B-8AFB-6A01-1E3F749ACF92}"/>
              </a:ext>
            </a:extLst>
          </p:cNvPr>
          <p:cNvSpPr txBox="1"/>
          <p:nvPr/>
        </p:nvSpPr>
        <p:spPr>
          <a:xfrm>
            <a:off x="3653283" y="4643217"/>
            <a:ext cx="223330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92400E"/>
                </a:solidFill>
              </a:defRPr>
            </a:pPr>
            <a:r>
              <a:rPr sz="1000" dirty="0"/>
              <a:t>⏱️ Temporal: [time unit], [duration]</a:t>
            </a:r>
          </a:p>
          <a:p>
            <a:pPr>
              <a:defRPr sz="750">
                <a:solidFill>
                  <a:srgbClr val="78350F"/>
                </a:solidFill>
              </a:defRPr>
            </a:pPr>
            <a:r>
              <a:rPr sz="1000" dirty="0"/>
              <a:t>🛑 Stop: [Stopping condition]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0DC791-F9F2-02A2-A45A-C416EB910BB7}"/>
              </a:ext>
            </a:extLst>
          </p:cNvPr>
          <p:cNvSpPr txBox="1"/>
          <p:nvPr/>
        </p:nvSpPr>
        <p:spPr>
          <a:xfrm>
            <a:off x="6101240" y="3648041"/>
            <a:ext cx="1438214" cy="2358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7C3AED"/>
                </a:solidFill>
              </a:defRPr>
            </a:pPr>
            <a:r>
              <a:rPr sz="933" dirty="0"/>
              <a:t>📌 [Data source name]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E1321D-9231-C0D1-0812-1F7FA3BD5C02}"/>
              </a:ext>
            </a:extLst>
          </p:cNvPr>
          <p:cNvSpPr txBox="1"/>
          <p:nvPr/>
        </p:nvSpPr>
        <p:spPr>
          <a:xfrm>
            <a:off x="6129704" y="4854820"/>
            <a:ext cx="1438214" cy="2358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7C3AED"/>
                </a:solidFill>
              </a:defRPr>
            </a:pPr>
            <a:r>
              <a:rPr sz="933" dirty="0"/>
              <a:t>📌 [Data source name]</a:t>
            </a:r>
          </a:p>
        </p:txBody>
      </p:sp>
    </p:spTree>
    <p:extLst>
      <p:ext uri="{BB962C8B-B14F-4D97-AF65-F5344CB8AC3E}">
        <p14:creationId xmlns:p14="http://schemas.microsoft.com/office/powerpoint/2010/main" val="854603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E960C47BA72A4A9933DEC228C9DDE4" ma:contentTypeVersion="11" ma:contentTypeDescription="Create a new document." ma:contentTypeScope="" ma:versionID="519958450d1caa14e0e0db210ddd3906">
  <xsd:schema xmlns:xsd="http://www.w3.org/2001/XMLSchema" xmlns:xs="http://www.w3.org/2001/XMLSchema" xmlns:p="http://schemas.microsoft.com/office/2006/metadata/properties" xmlns:ns2="d1478e9a-4da5-47c7-b60d-095c3be1d647" xmlns:ns3="25026eff-ccc5-4d99-b344-bcf6e70af144" targetNamespace="http://schemas.microsoft.com/office/2006/metadata/properties" ma:root="true" ma:fieldsID="307b9c5e1b7fffb47a7ff0e14a159bf7" ns2:_="" ns3:_="">
    <xsd:import namespace="d1478e9a-4da5-47c7-b60d-095c3be1d647"/>
    <xsd:import namespace="25026eff-ccc5-4d99-b344-bcf6e70af1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478e9a-4da5-47c7-b60d-095c3be1d6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6641f5-0da7-4f48-9a81-ef320f6056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026eff-ccc5-4d99-b344-bcf6e70af14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3f44fac-3714-4bfb-914e-ba67ab94d2db}" ma:internalName="TaxCatchAll" ma:showField="CatchAllData" ma:web="25026eff-ccc5-4d99-b344-bcf6e70af1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1478e9a-4da5-47c7-b60d-095c3be1d647">
      <Terms xmlns="http://schemas.microsoft.com/office/infopath/2007/PartnerControls"/>
    </lcf76f155ced4ddcb4097134ff3c332f>
    <TaxCatchAll xmlns="25026eff-ccc5-4d99-b344-bcf6e70af144"/>
  </documentManagement>
</p:properties>
</file>

<file path=customXml/itemProps1.xml><?xml version="1.0" encoding="utf-8"?>
<ds:datastoreItem xmlns:ds="http://schemas.openxmlformats.org/officeDocument/2006/customXml" ds:itemID="{026F3AB5-226A-419E-9E80-45A3FE3BB7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478e9a-4da5-47c7-b60d-095c3be1d647"/>
    <ds:schemaRef ds:uri="25026eff-ccc5-4d99-b344-bcf6e70af1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B22447D-6FED-4EBF-BB99-F563D18E486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C6719EF-C7BA-44BA-B4AC-D7C8F4C8DDB5}">
  <ds:schemaRefs>
    <ds:schemaRef ds:uri="http://purl.org/dc/dcmitype/"/>
    <ds:schemaRef ds:uri="http://schemas.microsoft.com/office/2006/metadata/properties"/>
    <ds:schemaRef ds:uri="http://purl.org/dc/elements/1.1/"/>
    <ds:schemaRef ds:uri="http://purl.org/dc/terms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25026eff-ccc5-4d99-b344-bcf6e70af144"/>
    <ds:schemaRef ds:uri="d1478e9a-4da5-47c7-b60d-095c3be1d64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783</Words>
  <Application>Microsoft Office PowerPoint</Application>
  <PresentationFormat>Widescreen</PresentationFormat>
  <Paragraphs>132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Lee, Hui Min (AIFB)</dc:creator>
  <cp:lastModifiedBy>Lee, Hui Min (AIFB)</cp:lastModifiedBy>
  <cp:revision>1</cp:revision>
  <dcterms:created xsi:type="dcterms:W3CDTF">2026-04-13T11:41:24Z</dcterms:created>
  <dcterms:modified xsi:type="dcterms:W3CDTF">2026-04-13T12:20:08Z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0x010100EFE960C47BA72A4A9933DEC228C9DDE4</vt:lpwstr>
  </property>
</Properties>
</file>